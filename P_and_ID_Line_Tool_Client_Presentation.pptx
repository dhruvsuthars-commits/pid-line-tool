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 (Title): Welcome clients. Introduce the P&amp;ID Line List Tool as an enterprise solution built specifically for EPC contractors, process engineers, and plant designers to automate line list segregation.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(Problem): Highlight client pain points. Manual data entry takes 20+ hours per project, leads to transcription errors in pipe classes/sizes, and causes expensive re-work.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(Capabilities): Walk through the 4 core pillars: Excel Segregation, AI Line Philosophy Profiles, PDF Drawing OCR, and M&amp;N Batch Merging.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(AI Philosophy): Emphasize zero-code configuration. Show how easy it is to define plain-English rules for Aramco, BP, Shell, or custom project standards.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(Workflow): Explain the simple 5-step user experience from raw upload to final standardized Linelist_reference master export.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 (Architecture &amp; Security): Reassure client security leads: HTTPS encryption, session isolation, Docker/Cloud Run deployment, and zero permanent data retention option.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 (ROI): Present concrete ROI: 95% time savings, 100% compliance, zero human errors, and 10x faster proposal turnaround.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8 (CTA): Invite the client for a live hands-on proof-of-concept using their sample P&amp;ID drawings and custom line philosophy templates.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371600"/>
            <a:ext cx="109728" cy="38404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371600"/>
            <a:ext cx="10424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EA5E9"/>
                </a:solidFill>
                <a:latin typeface="Inter"/>
              </a:defRPr>
            </a:pPr>
            <a:r>
              <a:t>NEXT-GEN ENGINEERING AUTOMATION</a:t>
            </a:r>
          </a:p>
          <a:p>
            <a:pPr>
              <a:defRPr sz="4400" b="1">
                <a:solidFill>
                  <a:srgbClr val="FFFFFF"/>
                </a:solidFill>
                <a:latin typeface="Inter"/>
              </a:defRPr>
            </a:pPr>
            <a:r>
              <a:t>P&amp;ID Line List Tool</a:t>
            </a:r>
          </a:p>
          <a:p>
            <a:pPr>
              <a:spcBef>
                <a:spcPts val="1000"/>
              </a:spcBef>
              <a:defRPr sz="1800">
                <a:solidFill>
                  <a:srgbClr val="94A3B8"/>
                </a:solidFill>
                <a:latin typeface="Inter"/>
              </a:defRPr>
            </a:pPr>
            <a:r>
              <a:t>AI-Driven Automated Extraction, Line Naming Philosophy Parsing &amp; Standardized Excel Segregation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3657600"/>
            <a:ext cx="3291840" cy="2468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3840480"/>
            <a:ext cx="2926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Inter"/>
              </a:defRPr>
            </a:pPr>
            <a:r>
              <a:t>⚡ 10x Faster Segregation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  <a:latin typeface="Inter"/>
              </a:defRPr>
            </a:pPr>
            <a:r>
              <a:t>Converts multi-day manual line list data entry into an automated process under 2 minutes.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3657600"/>
            <a:ext cx="3291840" cy="2468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3840480"/>
            <a:ext cx="2926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Inter"/>
              </a:defRPr>
            </a:pPr>
            <a:r>
              <a:t>🤖 AI Philosophy Engine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  <a:latin typeface="Inter"/>
              </a:defRPr>
            </a:pPr>
            <a:r>
              <a:t>Parses ANY custom line-numbering specification (Aramco, Shell, BP, EPC standards) dynamically.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3657600"/>
            <a:ext cx="3291840" cy="2468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59" y="3840480"/>
            <a:ext cx="2926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Inter"/>
              </a:defRPr>
            </a:pPr>
            <a:r>
              <a:t>📄 Direct P&amp;ID PDF OCR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  <a:latin typeface="Inter"/>
              </a:defRPr>
            </a:pPr>
            <a:r>
              <a:t>Extracts line tags directly from engineering PDF drawing packages into master Excel templates.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Inter"/>
              </a:defRPr>
            </a:pPr>
            <a:r>
              <a:t>MARKET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Inter"/>
              </a:defRPr>
            </a:pPr>
            <a:r>
              <a:t>The Bottleneck in P&amp;ID Line List Management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141E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F4444"/>
                </a:solidFill>
              </a:defRPr>
            </a:pPr>
            <a:r>
              <a:t>⚠️ Traditional Manual Process</a:t>
            </a:r>
          </a:p>
          <a:p>
            <a:pPr>
              <a:spcBef>
                <a:spcPts val="1400"/>
              </a:spcBef>
              <a:defRPr sz="1500" b="1">
                <a:solidFill>
                  <a:srgbClr val="FFFFFF"/>
                </a:solidFill>
              </a:defRPr>
            </a:pPr>
            <a:r>
              <a:t>🔴 Tedious Manual Entry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Engineers spend 20+ hours reading P&amp;ID drawings and typing line tags into spreadsheets.</a:t>
            </a:r>
          </a:p>
          <a:p>
            <a:pPr>
              <a:spcBef>
                <a:spcPts val="1400"/>
              </a:spcBef>
              <a:defRPr sz="1500" b="1">
                <a:solidFill>
                  <a:srgbClr val="FFFFFF"/>
                </a:solidFill>
              </a:defRPr>
            </a:pPr>
            <a:r>
              <a:t>🔴 Inconsistent Conventions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Projects use conflicting line formats (Fluid-Seq-Size vs Size-Fluid-Class).</a:t>
            </a:r>
          </a:p>
          <a:p>
            <a:pPr>
              <a:spcBef>
                <a:spcPts val="1400"/>
              </a:spcBef>
              <a:defRPr sz="1500" b="1">
                <a:solidFill>
                  <a:srgbClr val="FFFFFF"/>
                </a:solidFill>
              </a:defRPr>
            </a:pPr>
            <a:r>
              <a:t>🔴 High Error Rates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Typographical errors in line size or pipe class trigger expensive downstream piping re-work.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0F231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0B981"/>
                </a:solidFill>
              </a:defRPr>
            </a:pPr>
            <a:r>
              <a:t>✅ Automated Solution</a:t>
            </a:r>
          </a:p>
          <a:p>
            <a:pPr>
              <a:spcBef>
                <a:spcPts val="1400"/>
              </a:spcBef>
              <a:defRPr sz="1500" b="1">
                <a:solidFill>
                  <a:srgbClr val="FFFFFF"/>
                </a:solidFill>
              </a:defRPr>
            </a:pPr>
            <a:r>
              <a:t>🟢 Instant Automated Parsing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Segregates Fluid Code, Sequence No, Size, Class &amp; Insulation instantly under 2 seconds.</a:t>
            </a:r>
          </a:p>
          <a:p>
            <a:pPr>
              <a:spcBef>
                <a:spcPts val="1400"/>
              </a:spcBef>
              <a:defRPr sz="1500" b="1">
                <a:solidFill>
                  <a:srgbClr val="FFFFFF"/>
                </a:solidFill>
              </a:defRPr>
            </a:pPr>
            <a:r>
              <a:t>🟢 Universal AI Adaptability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Simply type plain-English philosophy rules to handle any client standard dynamically.</a:t>
            </a:r>
          </a:p>
          <a:p>
            <a:pPr>
              <a:spcBef>
                <a:spcPts val="1400"/>
              </a:spcBef>
              <a:defRPr sz="1500" b="1">
                <a:solidFill>
                  <a:srgbClr val="FFFFFF"/>
                </a:solidFill>
              </a:defRPr>
            </a:pPr>
            <a:r>
              <a:t>🟢 Standardized Output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Direct population of official Linelist_reference master Excel templates.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Inter"/>
              </a:defRPr>
            </a:pPr>
            <a:r>
              <a:t>PLATFORM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Inter"/>
              </a:defRPr>
            </a:pPr>
            <a:r>
              <a:t>Core Platform Capabilities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1460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2148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EA5E9"/>
                </a:solidFill>
                <a:latin typeface="Inter"/>
              </a:defRPr>
            </a:pPr>
            <a:r>
              <a:t>📊 Excel Line Segregation</a:t>
            </a:r>
          </a:p>
          <a:p>
            <a:pPr>
              <a:spcBef>
                <a:spcPts val="1400"/>
              </a:spcBef>
              <a:defRPr sz="1400">
                <a:solidFill>
                  <a:srgbClr val="94A3B8"/>
                </a:solidFill>
                <a:latin typeface="Inter"/>
              </a:defRPr>
            </a:pPr>
            <a:r>
              <a:t>Parses raw line strings into structured columns with styled master cell formatting.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645920"/>
            <a:ext cx="251460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80" y="1920240"/>
            <a:ext cx="2148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8B5CF6"/>
                </a:solidFill>
                <a:latin typeface="Inter"/>
              </a:defRPr>
            </a:pPr>
            <a:r>
              <a:t>🎛️ AI Philosophy Profiles</a:t>
            </a:r>
          </a:p>
          <a:p>
            <a:pPr>
              <a:spcBef>
                <a:spcPts val="1400"/>
              </a:spcBef>
              <a:defRPr sz="1400">
                <a:solidFill>
                  <a:srgbClr val="94A3B8"/>
                </a:solidFill>
                <a:latin typeface="Inter"/>
              </a:defRPr>
            </a:pPr>
            <a:r>
              <a:t>Save, manage, and toggle between Aramco, BP, Shell, or custom project specs.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251460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920240"/>
            <a:ext cx="2148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B82F6"/>
                </a:solidFill>
                <a:latin typeface="Inter"/>
              </a:defRPr>
            </a:pPr>
            <a:r>
              <a:t>👁️ P&amp;ID Drawing OCR</a:t>
            </a:r>
          </a:p>
          <a:p>
            <a:pPr>
              <a:spcBef>
                <a:spcPts val="1400"/>
              </a:spcBef>
              <a:defRPr sz="1400">
                <a:solidFill>
                  <a:srgbClr val="94A3B8"/>
                </a:solidFill>
                <a:latin typeface="Inter"/>
              </a:defRPr>
            </a:pPr>
            <a:r>
              <a:t>Extracts line tags directly from vector/raster CAD drawing PDF packages.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645920"/>
            <a:ext cx="251460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06840" y="1920240"/>
            <a:ext cx="2148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  <a:latin typeface="Inter"/>
              </a:defRPr>
            </a:pPr>
            <a:r>
              <a:t>📑 M&amp;N &amp; Batch Merge</a:t>
            </a:r>
          </a:p>
          <a:p>
            <a:pPr>
              <a:spcBef>
                <a:spcPts val="1400"/>
              </a:spcBef>
              <a:defRPr sz="1400">
                <a:solidFill>
                  <a:srgbClr val="94A3B8"/>
                </a:solidFill>
                <a:latin typeface="Inter"/>
              </a:defRPr>
            </a:pPr>
            <a:r>
              <a:t>Apply Material &amp; Numbering rules and merge multi-P&amp;ID lists into master documents.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Inter"/>
              </a:defRPr>
            </a:pPr>
            <a:r>
              <a:t>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Inter"/>
              </a:defRPr>
            </a:pPr>
            <a:r>
              <a:t>AI Line Philosophy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EA5E9"/>
                </a:solidFill>
              </a:defRPr>
            </a:pPr>
            <a:r>
              <a:t>Zero Code Configuration</a:t>
            </a:r>
          </a:p>
          <a:p>
            <a:pPr>
              <a:spcBef>
                <a:spcPts val="1000"/>
              </a:spcBef>
              <a:defRPr sz="1400">
                <a:solidFill>
                  <a:srgbClr val="94A3B8"/>
                </a:solidFill>
              </a:defRPr>
            </a:pPr>
            <a:r>
              <a:t>Traditional regex software breaks when client line conventions change. Our AI Philosophy Engine lets engineers write plain-English rules or paste client line spec sheets directly into the web app.</a:t>
            </a:r>
          </a:p>
          <a:p>
            <a:pPr>
              <a:spcBef>
                <a:spcPts val="1600"/>
              </a:spcBef>
              <a:defRPr sz="1600" b="1">
                <a:solidFill>
                  <a:srgbClr val="FFFFFF"/>
                </a:solidFill>
              </a:defRPr>
            </a:pPr>
            <a:r>
              <a:t>Interactive Live Preview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Test sample line strings against your philosophy before running 100+ page PDF drawing packages.</a:t>
            </a:r>
          </a:p>
          <a:p>
            <a:pPr>
              <a:spcBef>
                <a:spcPts val="1600"/>
              </a:spcBef>
              <a:defRPr sz="1600" b="1">
                <a:solidFill>
                  <a:srgbClr val="10B981"/>
                </a:solidFill>
              </a:defRPr>
            </a:pPr>
            <a:r>
              <a:t>Local Fallback Protection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Zero-API key local rule engine guarantees high performance even in offline environments.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645920"/>
            <a:ext cx="5303520" cy="4572000"/>
          </a:xfrm>
          <a:prstGeom prst="roundRect">
            <a:avLst/>
          </a:prstGeom>
          <a:solidFill>
            <a:srgbClr val="0A0E1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Consolas"/>
              </a:defRPr>
            </a:pPr>
            <a:r>
              <a:t>// Define Philosophy Profile</a:t>
            </a:r>
          </a:p>
          <a:p>
            <a:pPr>
              <a:defRPr sz="1200">
                <a:solidFill>
                  <a:srgbClr val="F43F5E"/>
                </a:solidFill>
                <a:latin typeface="Consolas"/>
              </a:defRPr>
            </a:pPr>
            <a:r>
              <a:t>"Aramco-Standard": {</a:t>
            </a:r>
          </a:p>
          <a:p>
            <a:pPr>
              <a:defRPr sz="1200">
                <a:solidFill>
                  <a:srgbClr val="38BDF8"/>
                </a:solidFill>
                <a:latin typeface="Consolas"/>
              </a:defRPr>
            </a:pPr>
            <a:r>
              <a:t>  "delimiter": "-",</a:t>
            </a:r>
          </a:p>
          <a:p>
            <a:pPr>
              <a:defRPr sz="1200">
                <a:solidFill>
                  <a:srgbClr val="38BDF8"/>
                </a:solidFill>
                <a:latin typeface="Consolas"/>
              </a:defRPr>
            </a:pPr>
            <a:r>
              <a:t>  "rules": "Fluid - Seq - Size - Class - Ins"</a:t>
            </a:r>
          </a:p>
          <a:p>
            <a:pPr>
              <a:defRPr sz="1200">
                <a:solidFill>
                  <a:srgbClr val="F43F5E"/>
                </a:solidFill>
                <a:latin typeface="Consolas"/>
              </a:defRPr>
            </a:pPr>
            <a:r>
              <a:t>}</a:t>
            </a:r>
          </a:p>
          <a:p>
            <a:pPr>
              <a:defRPr sz="1200">
                <a:solidFill>
                  <a:srgbClr val="FFFFFF"/>
                </a:solidFill>
                <a:latin typeface="Consolas"/>
              </a:defRPr>
            </a:pPr>
          </a:p>
          <a:p>
            <a:pPr>
              <a:defRPr sz="1200">
                <a:solidFill>
                  <a:srgbClr val="64748B"/>
                </a:solidFill>
                <a:latin typeface="Consolas"/>
              </a:defRPr>
            </a:pPr>
            <a:r>
              <a:t>// Sample Input Tag</a:t>
            </a:r>
          </a:p>
          <a:p>
            <a:pPr>
              <a:defRPr sz="1200">
                <a:solidFill>
                  <a:srgbClr val="FACC15"/>
                </a:solidFill>
                <a:latin typeface="Consolas"/>
              </a:defRPr>
            </a:pPr>
            <a:r>
              <a:t>"HPS-120816-50-A5-H"</a:t>
            </a:r>
          </a:p>
          <a:p>
            <a:pPr>
              <a:defRPr sz="1200">
                <a:solidFill>
                  <a:srgbClr val="FFFFFF"/>
                </a:solidFill>
                <a:latin typeface="Consolas"/>
              </a:defRPr>
            </a:pPr>
          </a:p>
          <a:p>
            <a:pPr>
              <a:defRPr sz="1200">
                <a:solidFill>
                  <a:srgbClr val="64748B"/>
                </a:solidFill>
                <a:latin typeface="Consolas"/>
              </a:defRPr>
            </a:pPr>
            <a:r>
              <a:t>// Extracted Structured Output</a:t>
            </a:r>
          </a:p>
          <a:p>
            <a:pPr>
              <a:defRPr sz="1200">
                <a:solidFill>
                  <a:srgbClr val="10B981"/>
                </a:solidFill>
                <a:latin typeface="Consolas"/>
              </a:defRPr>
            </a:pPr>
            <a:r>
              <a:t>{</a:t>
            </a:r>
          </a:p>
          <a:p>
            <a:pPr>
              <a:defRPr sz="1200">
                <a:solidFill>
                  <a:srgbClr val="10B981"/>
                </a:solidFill>
                <a:latin typeface="Consolas"/>
              </a:defRPr>
            </a:pPr>
            <a:r>
              <a:t>  "Fluid Code": "HPS",</a:t>
            </a:r>
          </a:p>
          <a:p>
            <a:pPr>
              <a:defRPr sz="1200">
                <a:solidFill>
                  <a:srgbClr val="10B981"/>
                </a:solidFill>
                <a:latin typeface="Consolas"/>
              </a:defRPr>
            </a:pPr>
            <a:r>
              <a:t>  "Sequence No": "120816",</a:t>
            </a:r>
          </a:p>
          <a:p>
            <a:pPr>
              <a:defRPr sz="1200">
                <a:solidFill>
                  <a:srgbClr val="10B981"/>
                </a:solidFill>
                <a:latin typeface="Consolas"/>
              </a:defRPr>
            </a:pPr>
            <a:r>
              <a:t>  "Line Size (mm)": "50",</a:t>
            </a:r>
          </a:p>
          <a:p>
            <a:pPr>
              <a:defRPr sz="1200">
                <a:solidFill>
                  <a:srgbClr val="10B981"/>
                </a:solidFill>
                <a:latin typeface="Consolas"/>
              </a:defRPr>
            </a:pPr>
            <a:r>
              <a:t>  "Pipe Class": "A5", "Insulation": "H"</a:t>
            </a:r>
          </a:p>
          <a:p>
            <a:pPr>
              <a:defRPr sz="1200">
                <a:solidFill>
                  <a:srgbClr val="10B981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Inter"/>
              </a:defRPr>
            </a:pPr>
            <a:r>
              <a:t>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Inter"/>
              </a:defRPr>
            </a:pPr>
            <a:r>
              <a:t>5-Step Automated Execution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0116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920240"/>
            <a:ext cx="1737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EA5E9"/>
                </a:solidFill>
              </a:defRPr>
            </a:pPr>
            <a:r>
              <a:t>01</a:t>
            </a:r>
          </a:p>
          <a:p>
            <a:pPr>
              <a:spcBef>
                <a:spcPts val="1000"/>
              </a:spcBef>
              <a:defRPr sz="1600" b="1">
                <a:solidFill>
                  <a:srgbClr val="FFFFFF"/>
                </a:solidFill>
              </a:defRPr>
            </a:pPr>
            <a:r>
              <a:t>Upload Files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Upload raw Excel line list or P&amp;ID PDF drawings.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89504" y="1645920"/>
            <a:ext cx="20116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26664" y="1920240"/>
            <a:ext cx="1737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B82F6"/>
                </a:solidFill>
              </a:defRPr>
            </a:pPr>
            <a:r>
              <a:t>02</a:t>
            </a:r>
          </a:p>
          <a:p>
            <a:pPr>
              <a:spcBef>
                <a:spcPts val="1000"/>
              </a:spcBef>
              <a:defRPr sz="1600" b="1">
                <a:solidFill>
                  <a:srgbClr val="FFFFFF"/>
                </a:solidFill>
              </a:defRPr>
            </a:pPr>
            <a:r>
              <a:t>Select Philosophy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Pick saved profile or define custom line rules.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7488" y="1645920"/>
            <a:ext cx="20116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84648" y="1920240"/>
            <a:ext cx="1737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8B5CF6"/>
                </a:solidFill>
              </a:defRPr>
            </a:pPr>
            <a:r>
              <a:t>03</a:t>
            </a:r>
          </a:p>
          <a:p>
            <a:pPr>
              <a:spcBef>
                <a:spcPts val="1000"/>
              </a:spcBef>
              <a:defRPr sz="1600" b="1">
                <a:solidFill>
                  <a:srgbClr val="FFFFFF"/>
                </a:solidFill>
              </a:defRPr>
            </a:pPr>
            <a:r>
              <a:t>AI Extraction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OCR &amp; LLM engine segregates tags instantly.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05472" y="1645920"/>
            <a:ext cx="20116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42632" y="1920240"/>
            <a:ext cx="1737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0B981"/>
                </a:solidFill>
              </a:defRPr>
            </a:pPr>
            <a:r>
              <a:t>04</a:t>
            </a:r>
          </a:p>
          <a:p>
            <a:pPr>
              <a:spcBef>
                <a:spcPts val="1000"/>
              </a:spcBef>
              <a:defRPr sz="1600" b="1">
                <a:solidFill>
                  <a:srgbClr val="FFFFFF"/>
                </a:solidFill>
              </a:defRPr>
            </a:pPr>
            <a:r>
              <a:t>M&amp;N Rules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Configure fluid-specific material parameters.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63456" y="1645920"/>
            <a:ext cx="20116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0616" y="1920240"/>
            <a:ext cx="1737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59E0B"/>
                </a:solidFill>
              </a:defRPr>
            </a:pPr>
            <a:r>
              <a:t>05</a:t>
            </a:r>
          </a:p>
          <a:p>
            <a:pPr>
              <a:spcBef>
                <a:spcPts val="1000"/>
              </a:spcBef>
              <a:defRPr sz="1600" b="1">
                <a:solidFill>
                  <a:srgbClr val="FFFFFF"/>
                </a:solidFill>
              </a:defRPr>
            </a:pPr>
            <a:r>
              <a:t>Export Master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Download populated reference template.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Inter"/>
              </a:defRPr>
            </a:pPr>
            <a:r>
              <a:t>ENTERPRISE READY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Inter"/>
              </a:defRPr>
            </a:pPr>
            <a:r>
              <a:t>Architecture &amp; Security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01168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EA5E9"/>
                </a:solidFill>
              </a:defRPr>
            </a:pPr>
            <a:r>
              <a:t>🖥️ Flexible Deployment</a:t>
            </a:r>
          </a:p>
          <a:p>
            <a:pPr>
              <a:spcBef>
                <a:spcPts val="1400"/>
              </a:spcBef>
              <a:defRPr sz="1400">
                <a:solidFill>
                  <a:srgbClr val="94A3B8"/>
                </a:solidFill>
              </a:defRPr>
            </a:pPr>
            <a:r>
              <a:t>Supports Docker containers, Google Cloud Run, Vercel Serverless, or local enterprise intranet servers.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645920"/>
            <a:ext cx="33832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201168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B82F6"/>
                </a:solidFill>
              </a:defRPr>
            </a:pPr>
            <a:r>
              <a:t>☁️ GCS Persistence</a:t>
            </a:r>
          </a:p>
          <a:p>
            <a:pPr>
              <a:spcBef>
                <a:spcPts val="1400"/>
              </a:spcBef>
              <a:defRPr sz="1400">
                <a:solidFill>
                  <a:srgbClr val="94A3B8"/>
                </a:solidFill>
              </a:defRPr>
            </a:pPr>
            <a:r>
              <a:t>Optional Google Cloud Storage integration for secure master template storage and signed URL downloads.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645920"/>
            <a:ext cx="33832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80" y="201168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8B5CF6"/>
                </a:solidFill>
              </a:defRPr>
            </a:pPr>
            <a:r>
              <a:t>🛡️ Data Privacy &amp; Security</a:t>
            </a:r>
          </a:p>
          <a:p>
            <a:pPr>
              <a:spcBef>
                <a:spcPts val="1400"/>
              </a:spcBef>
              <a:defRPr sz="1400">
                <a:solidFill>
                  <a:srgbClr val="94A3B8"/>
                </a:solidFill>
              </a:defRPr>
            </a:pPr>
            <a:r>
              <a:t>Session isolation, HTTPS encryption, zero permanent file retention policies, protecting proprietary drawings.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Inter"/>
              </a:defRPr>
            </a:pPr>
            <a:r>
              <a:t>BUSINESS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Inter"/>
              </a:defRPr>
            </a:pPr>
            <a:r>
              <a:t>Quantifiable ROI for Clients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51460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2148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0EA5E9"/>
                </a:solidFill>
              </a:defRPr>
            </a:pPr>
            <a:r>
              <a:t>95%</a:t>
            </a:r>
          </a:p>
          <a:p>
            <a:pPr algn="ctr">
              <a:spcBef>
                <a:spcPts val="1600"/>
              </a:spcBef>
              <a:defRPr sz="1600" b="1">
                <a:solidFill>
                  <a:srgbClr val="FFFFFF"/>
                </a:solidFill>
              </a:defRPr>
            </a:pPr>
            <a:r>
              <a:t>Time Reduction per Line List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828800"/>
            <a:ext cx="251460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80" y="2194560"/>
            <a:ext cx="2148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10B981"/>
                </a:solidFill>
              </a:defRPr>
            </a:pPr>
            <a:r>
              <a:t>100%</a:t>
            </a:r>
          </a:p>
          <a:p>
            <a:pPr algn="ctr">
              <a:spcBef>
                <a:spcPts val="1600"/>
              </a:spcBef>
              <a:defRPr sz="1600" b="1">
                <a:solidFill>
                  <a:srgbClr val="FFFFFF"/>
                </a:solidFill>
              </a:defRPr>
            </a:pPr>
            <a:r>
              <a:t>Client Standard Compliance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828800"/>
            <a:ext cx="251460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2194560"/>
            <a:ext cx="2148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8B5CF6"/>
                </a:solidFill>
              </a:defRPr>
            </a:pPr>
            <a:r>
              <a:t>0</a:t>
            </a:r>
          </a:p>
          <a:p>
            <a:pPr algn="ctr">
              <a:spcBef>
                <a:spcPts val="1600"/>
              </a:spcBef>
              <a:defRPr sz="1600" b="1">
                <a:solidFill>
                  <a:srgbClr val="FFFFFF"/>
                </a:solidFill>
              </a:defRPr>
            </a:pPr>
            <a:r>
              <a:t>Human Transcription Errors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828800"/>
            <a:ext cx="251460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06840" y="2194560"/>
            <a:ext cx="2148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59E0B"/>
                </a:solidFill>
              </a:defRPr>
            </a:pPr>
            <a:r>
              <a:t>10x</a:t>
            </a:r>
          </a:p>
          <a:p>
            <a:pPr algn="ctr">
              <a:spcBef>
                <a:spcPts val="1600"/>
              </a:spcBef>
              <a:defRPr sz="1600" b="1">
                <a:solidFill>
                  <a:srgbClr val="FFFFFF"/>
                </a:solidFill>
              </a:defRPr>
            </a:pPr>
            <a:r>
              <a:t>Faster Bid &amp; Proposal Turnaround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Inter"/>
              </a:defRPr>
            </a:pPr>
            <a:r>
              <a:t>NEXT STEPS &amp;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Inter"/>
              </a:defRPr>
            </a:pPr>
            <a:r>
              <a:t>Transform Your Piping Engineering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45920" y="1645920"/>
            <a:ext cx="88696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2011680"/>
            <a:ext cx="8138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🤝 Schedule a Live Demonstration</a:t>
            </a:r>
          </a:p>
          <a:p>
            <a:pPr algn="ctr">
              <a:spcBef>
                <a:spcPts val="1400"/>
              </a:spcBef>
              <a:defRPr sz="1600">
                <a:solidFill>
                  <a:srgbClr val="94A3B8"/>
                </a:solidFill>
              </a:defRPr>
            </a:pPr>
            <a:r>
              <a:t>Let us demonstrate the P&amp;ID Line List Tool live on your proprietary drawing packages and custom line philosophy standards.</a:t>
            </a:r>
          </a:p>
          <a:p>
            <a:pPr algn="ctr">
              <a:spcBef>
                <a:spcPts val="3000"/>
              </a:spcBef>
              <a:defRPr sz="2000" b="1">
                <a:solidFill>
                  <a:srgbClr val="0EA5E9"/>
                </a:solidFill>
              </a:defRPr>
            </a:pPr>
            <a:r>
              <a:t>🚀 Launch Web Application: http://127.0.0.1:5001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